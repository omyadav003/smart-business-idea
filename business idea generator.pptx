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6"/>
  </p:notesMasterIdLst>
  <p:sldIdLst>
    <p:sldId id="283" r:id="rId2"/>
    <p:sldId id="257" r:id="rId3"/>
    <p:sldId id="282" r:id="rId4"/>
    <p:sldId id="285" r:id="rId5"/>
    <p:sldId id="278" r:id="rId6"/>
    <p:sldId id="281" r:id="rId7"/>
    <p:sldId id="279" r:id="rId8"/>
    <p:sldId id="264" r:id="rId9"/>
    <p:sldId id="287" r:id="rId10"/>
    <p:sldId id="286" r:id="rId11"/>
    <p:sldId id="280" r:id="rId12"/>
    <p:sldId id="288" r:id="rId13"/>
    <p:sldId id="289" r:id="rId14"/>
    <p:sldId id="276" r:id="rId15"/>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B8A5A39-4B3D-455E-8653-828E6FB0B475}" v="1" dt="2026-07-15T09:31:19.135"/>
  </p1510:revLst>
</p1510:revInfo>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4" d="100"/>
          <a:sy n="84" d="100"/>
        </p:scale>
        <p:origin x="629"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notesMaster" Target="notesMasters/notesMaster1.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32"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8"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7" Type="http://customschemas.google.com/relationships/presentationmetadata" Target="meta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13540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7365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59B870D7-ED5B-C7CD-FB99-2991954CAA65}"/>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id="{C8B270BB-F67C-52E3-249C-6FE0C237CA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a16="http://schemas.microsoft.com/office/drawing/2014/main" id="{151B863E-6240-36E9-EB23-2DAA667D25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798578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349666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A795C14E-5D6A-39A3-2018-2C72BB451BBD}"/>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5B8BB2F-0927-3841-AC64-CC67B503586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58797E72-A3BC-0A49-07C4-DE7FDA75236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207868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758711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jp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p:txBody>
          <a:bodyPr>
            <a:normAutofit/>
          </a:bodyPr>
          <a:lstStyle/>
          <a:p>
            <a:pPr algn="ctr"/>
            <a:r>
              <a:rPr lang="en-US" sz="6600" b="1"/>
              <a:t>IBM University Engagement Project Submission</a:t>
            </a:r>
            <a:br>
              <a:rPr lang="en-US" b="1"/>
            </a:br>
            <a:endParaRPr lang="en-IN"/>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r>
              <a:rPr lang="en-US" b="1" i="1"/>
              <a:t>“Exploring the Power of Agentic AI with IBM Granite and </a:t>
            </a:r>
            <a:r>
              <a:rPr lang="en-US" b="1" i="1" err="1"/>
              <a:t>LangFlow</a:t>
            </a:r>
            <a:r>
              <a:rPr lang="en-US" b="1" i="1"/>
              <a:t>”</a:t>
            </a:r>
            <a:endParaRPr lang="en-IN"/>
          </a:p>
        </p:txBody>
      </p:sp>
    </p:spTree>
    <p:extLst>
      <p:ext uri="{BB962C8B-B14F-4D97-AF65-F5344CB8AC3E}">
        <p14:creationId xmlns:p14="http://schemas.microsoft.com/office/powerpoint/2010/main" val="9575646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2916180344"/>
              </p:ext>
            </p:extLst>
          </p:nvPr>
        </p:nvGraphicFramePr>
        <p:xfrm>
          <a:off x="1299257" y="2600315"/>
          <a:ext cx="9394989" cy="2167128"/>
        </p:xfrm>
        <a:graphic>
          <a:graphicData uri="http://schemas.openxmlformats.org/drawingml/2006/table">
            <a:tbl>
              <a:tblPr>
                <a:noFill/>
                <a:tableStyleId>{0AAD8F4D-43EB-41E5-8A38-28AB6DFB1B60}</a:tableStyleId>
              </a:tblPr>
              <a:tblGrid>
                <a:gridCol w="2064867">
                  <a:extLst>
                    <a:ext uri="{9D8B030D-6E8A-4147-A177-3AD203B41FA5}">
                      <a16:colId xmlns:a16="http://schemas.microsoft.com/office/drawing/2014/main" val="20000"/>
                    </a:ext>
                  </a:extLst>
                </a:gridCol>
                <a:gridCol w="2443374">
                  <a:extLst>
                    <a:ext uri="{9D8B030D-6E8A-4147-A177-3AD203B41FA5}">
                      <a16:colId xmlns:a16="http://schemas.microsoft.com/office/drawing/2014/main" val="20002"/>
                    </a:ext>
                  </a:extLst>
                </a:gridCol>
                <a:gridCol w="2440390">
                  <a:extLst>
                    <a:ext uri="{9D8B030D-6E8A-4147-A177-3AD203B41FA5}">
                      <a16:colId xmlns:a16="http://schemas.microsoft.com/office/drawing/2014/main" val="20003"/>
                    </a:ext>
                  </a:extLst>
                </a:gridCol>
                <a:gridCol w="2446358">
                  <a:extLst>
                    <a:ext uri="{9D8B030D-6E8A-4147-A177-3AD203B41FA5}">
                      <a16:colId xmlns:a16="http://schemas.microsoft.com/office/drawing/2014/main" val="20004"/>
                    </a:ext>
                  </a:extLst>
                </a:gridCol>
              </a:tblGrid>
              <a:tr h="973237">
                <a:tc>
                  <a:txBody>
                    <a:bodyPr/>
                    <a:lstStyle/>
                    <a:p>
                      <a:pPr marL="0" marR="0" lvl="0" indent="0" algn="ctr" rtl="0">
                        <a:spcBef>
                          <a:spcPts val="0"/>
                        </a:spcBef>
                        <a:spcAft>
                          <a:spcPts val="0"/>
                        </a:spcAft>
                        <a:buNone/>
                      </a:pPr>
                      <a:r>
                        <a:rPr lang="en-US" sz="1800" u="none" strike="noStrike" cap="none"/>
                        <a:t>Student Name</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a:t>Recent Passport Photo</a:t>
                      </a:r>
                      <a:endParaRPr sz="1800" u="none" strike="noStrike" cap="none"/>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Calibri"/>
                          <a:cs typeface="Arial"/>
                          <a:sym typeface="Calibri"/>
                        </a:rPr>
                        <a:t>Email ID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Mobile number</a:t>
                      </a:r>
                      <a:endParaRPr sz="1800" b="0" i="0" u="none" strike="noStrike" cap="none">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[WhatsApp]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193891">
                <a:tc>
                  <a:txBody>
                    <a:bodyPr/>
                    <a:lstStyle/>
                    <a:p>
                      <a:pPr marL="0" marR="0" lvl="0" indent="0" algn="l" rtl="0">
                        <a:spcBef>
                          <a:spcPts val="0"/>
                        </a:spcBef>
                        <a:spcAft>
                          <a:spcPts val="0"/>
                        </a:spcAft>
                        <a:buNone/>
                      </a:pPr>
                      <a:r>
                        <a:rPr lang="en-IN" sz="2000" dirty="0"/>
                        <a:t>Atharv Nalawade</a:t>
                      </a:r>
                      <a:endParaRPr sz="20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IN" sz="2000" dirty="0"/>
                        <a:t>nalawadeatharv800@gmail.com</a:t>
                      </a:r>
                      <a:endParaRPr sz="20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IN" sz="2000" dirty="0"/>
                        <a:t>9209854887</a:t>
                      </a:r>
                      <a:endParaRPr sz="20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pic>
        <p:nvPicPr>
          <p:cNvPr id="98" name="Google Shape;98;p2"/>
          <p:cNvPicPr preferRelativeResize="0"/>
          <p:nvPr/>
        </p:nvPicPr>
        <p:blipFill rotWithShape="1">
          <a:blip r:embed="rId3">
            <a:alphaModFix/>
          </a:blip>
          <a:srcRect/>
          <a:stretch/>
        </p:blipFill>
        <p:spPr>
          <a:xfrm>
            <a:off x="4053024" y="3738417"/>
            <a:ext cx="762500" cy="801811"/>
          </a:xfrm>
          <a:prstGeom prst="rect">
            <a:avLst/>
          </a:prstGeom>
          <a:noFill/>
          <a:ln>
            <a:noFill/>
          </a:ln>
        </p:spPr>
      </p:pic>
      <p:sp>
        <p:nvSpPr>
          <p:cNvPr id="4" name="TextBox 3">
            <a:extLst>
              <a:ext uri="{FF2B5EF4-FFF2-40B4-BE49-F238E27FC236}">
                <a16:creationId xmlns:a16="http://schemas.microsoft.com/office/drawing/2014/main" id="{A828B9EF-C084-F5D4-CA27-75AF7D995640}"/>
              </a:ext>
            </a:extLst>
          </p:cNvPr>
          <p:cNvSpPr txBox="1"/>
          <p:nvPr/>
        </p:nvSpPr>
        <p:spPr>
          <a:xfrm>
            <a:off x="1206164" y="1460724"/>
            <a:ext cx="10280254" cy="461665"/>
          </a:xfrm>
          <a:prstGeom prst="rect">
            <a:avLst/>
          </a:prstGeom>
          <a:noFill/>
        </p:spPr>
        <p:txBody>
          <a:bodyPr wrap="square" rtlCol="0">
            <a:spAutoFit/>
          </a:bodyPr>
          <a:lstStyle/>
          <a:p>
            <a:r>
              <a:rPr lang="en-US" sz="2400" b="1" dirty="0"/>
              <a:t>Domain of  Project – </a:t>
            </a:r>
            <a:r>
              <a:rPr lang="en-US" sz="2400" b="1" dirty="0">
                <a:highlight>
                  <a:srgbClr val="FFFF00"/>
                </a:highlight>
              </a:rPr>
              <a:t>[ Business]</a:t>
            </a:r>
            <a:endParaRPr lang="en-IN" sz="2400" b="1" dirty="0">
              <a:highlight>
                <a:srgbClr val="FFFF00"/>
              </a:highlight>
            </a:endParaRPr>
          </a:p>
        </p:txBody>
      </p:sp>
      <p:sp>
        <p:nvSpPr>
          <p:cNvPr id="7" name="TextBox 6">
            <a:extLst>
              <a:ext uri="{FF2B5EF4-FFF2-40B4-BE49-F238E27FC236}">
                <a16:creationId xmlns:a16="http://schemas.microsoft.com/office/drawing/2014/main" id="{3D723CA3-EC2D-165A-F109-3759C4E9C8A4}"/>
              </a:ext>
            </a:extLst>
          </p:cNvPr>
          <p:cNvSpPr txBox="1"/>
          <p:nvPr/>
        </p:nvSpPr>
        <p:spPr>
          <a:xfrm>
            <a:off x="1206162" y="551965"/>
            <a:ext cx="9581177" cy="461665"/>
          </a:xfrm>
          <a:prstGeom prst="rect">
            <a:avLst/>
          </a:prstGeom>
          <a:noFill/>
        </p:spPr>
        <p:txBody>
          <a:bodyPr wrap="square" rtlCol="0">
            <a:spAutoFit/>
          </a:bodyPr>
          <a:lstStyle/>
          <a:p>
            <a:r>
              <a:rPr lang="en-US" sz="2400" b="1" dirty="0"/>
              <a:t>Project Tile – </a:t>
            </a:r>
            <a:r>
              <a:rPr lang="en-US" sz="2400" b="1" dirty="0">
                <a:highlight>
                  <a:srgbClr val="FFFF00"/>
                </a:highlight>
              </a:rPr>
              <a:t>[</a:t>
            </a:r>
            <a:r>
              <a:rPr lang="en-IN" sz="2400" dirty="0">
                <a:highlight>
                  <a:srgbClr val="FFFF00"/>
                </a:highlight>
              </a:rPr>
              <a:t>Smart Business Idea Generator Agent</a:t>
            </a:r>
            <a:r>
              <a:rPr lang="en-US" sz="2400" b="1" dirty="0">
                <a:highlight>
                  <a:srgbClr val="FFFF00"/>
                </a:highlight>
              </a:rPr>
              <a:t>]</a:t>
            </a:r>
            <a:endParaRPr lang="en-IN" sz="2400" b="1" dirty="0">
              <a:highlight>
                <a:srgbClr val="FFFF00"/>
              </a:highlight>
            </a:endParaRPr>
          </a:p>
        </p:txBody>
      </p:sp>
      <p:pic>
        <p:nvPicPr>
          <p:cNvPr id="5" name="Picture 4">
            <a:extLst>
              <a:ext uri="{FF2B5EF4-FFF2-40B4-BE49-F238E27FC236}">
                <a16:creationId xmlns:a16="http://schemas.microsoft.com/office/drawing/2014/main" id="{A0B90A0E-6225-0622-866A-BAE6536A23B0}"/>
              </a:ext>
            </a:extLst>
          </p:cNvPr>
          <p:cNvPicPr>
            <a:picLocks noChangeAspect="1"/>
          </p:cNvPicPr>
          <p:nvPr/>
        </p:nvPicPr>
        <p:blipFill>
          <a:blip r:embed="rId4"/>
          <a:stretch>
            <a:fillRect/>
          </a:stretch>
        </p:blipFill>
        <p:spPr>
          <a:xfrm>
            <a:off x="4053024" y="3738417"/>
            <a:ext cx="762500" cy="801812"/>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576072" y="1165753"/>
            <a:ext cx="10607040" cy="4185761"/>
          </a:xfrm>
          <a:prstGeom prst="rect">
            <a:avLst/>
          </a:prstGeom>
          <a:noFill/>
        </p:spPr>
        <p:txBody>
          <a:bodyPr wrap="square" rtlCol="0">
            <a:spAutoFit/>
          </a:bodyPr>
          <a:lstStyle/>
          <a:p>
            <a:pPr fontAlgn="base"/>
            <a:r>
              <a:rPr lang="en-US" b="1" dirty="0"/>
              <a:t>Problem Statement : </a:t>
            </a:r>
            <a:r>
              <a:rPr lang="en-IN" dirty="0"/>
              <a:t>Business Idea Generator Agent</a:t>
            </a:r>
            <a:endParaRPr lang="en-US" dirty="0"/>
          </a:p>
          <a:p>
            <a:pPr fontAlgn="base"/>
            <a:endParaRPr lang="en-US" b="1" dirty="0"/>
          </a:p>
          <a:p>
            <a:pPr fontAlgn="base"/>
            <a:r>
              <a:rPr lang="en-US" b="1" dirty="0"/>
              <a:t>The Challenge</a:t>
            </a:r>
            <a:r>
              <a:rPr lang="en-US" dirty="0"/>
              <a:t> </a:t>
            </a:r>
          </a:p>
          <a:p>
            <a:pPr fontAlgn="base"/>
            <a:r>
              <a:rPr lang="en-IN" dirty="0"/>
              <a:t>In the digital era, innovation is crucial, but individuals, students, researchers, and organizations often struggle with idea generation. Brainstorming sessions are unstructured, inspiration is scattered across articles, videos, and social media, and existing tools focus on text-only prompts without context-awareness. The challenge is not just to suggest random ideas but to synthesize creativity, context, and relevance into intelligent, actionable ideas for diverse domains such as startups, research, content creation, or product development</a:t>
            </a:r>
            <a:endParaRPr lang="en-US" dirty="0"/>
          </a:p>
          <a:p>
            <a:pPr fontAlgn="base"/>
            <a:r>
              <a:rPr lang="en-US" b="1" dirty="0"/>
              <a:t>The Objective</a:t>
            </a:r>
            <a:r>
              <a:rPr lang="en-US" dirty="0"/>
              <a:t> </a:t>
            </a:r>
          </a:p>
          <a:p>
            <a:pPr fontAlgn="base"/>
            <a:r>
              <a:rPr lang="en-IN" dirty="0"/>
              <a:t>Build an agentic AI Smart Idea Generator that empowers users with contextual, innovative, and multimodal ideation. The solution should: </a:t>
            </a:r>
          </a:p>
          <a:p>
            <a:pPr marL="342900" indent="-342900" fontAlgn="base">
              <a:buAutoNum type="arabicPeriod"/>
            </a:pPr>
            <a:r>
              <a:rPr lang="en-IN" b="1" dirty="0"/>
              <a:t>Fuse Knowledge Sources</a:t>
            </a:r>
            <a:r>
              <a:rPr lang="en-IN" dirty="0"/>
              <a:t>: Pull insights from articles, research papers, trend analysis, and social platforms to generate contextual and current ideas. </a:t>
            </a:r>
          </a:p>
          <a:p>
            <a:pPr marL="342900" indent="-342900" fontAlgn="base">
              <a:buAutoNum type="arabicPeriod"/>
            </a:pPr>
            <a:r>
              <a:rPr lang="en-IN" dirty="0"/>
              <a:t> </a:t>
            </a:r>
            <a:r>
              <a:rPr lang="en-IN" b="1" dirty="0"/>
              <a:t>Enable Multimodal Brainstorming</a:t>
            </a:r>
            <a:r>
              <a:rPr lang="en-IN" dirty="0"/>
              <a:t>: Accept inputs like text prompts, images (e.g., product sketches), or voice notes and refine them into structured, creative suggestions. </a:t>
            </a:r>
          </a:p>
          <a:p>
            <a:pPr marL="342900" indent="-342900" fontAlgn="base">
              <a:buAutoNum type="arabicPeriod"/>
            </a:pPr>
            <a:r>
              <a:rPr lang="en-IN" b="1" dirty="0"/>
              <a:t>Create a Predictive &amp; Agentic Layer</a:t>
            </a:r>
            <a:r>
              <a:rPr lang="en-IN" dirty="0"/>
              <a:t>: Identify trending domains (e.g., AI in healthcare, sustainable energy), forecast idea relevance, and recommend high-impact directions.  </a:t>
            </a:r>
          </a:p>
          <a:p>
            <a:pPr marL="342900" indent="-342900" fontAlgn="base">
              <a:buAutoNum type="arabicPeriod"/>
            </a:pPr>
            <a:r>
              <a:rPr lang="en-IN" b="1" dirty="0"/>
              <a:t>Visualize Idea Maps</a:t>
            </a:r>
            <a:r>
              <a:rPr lang="en-IN" dirty="0"/>
              <a:t>: Provide an interactive dashboard that organizes ideas into categories, impact scores, and feasibility maps, helping users explore and refine concepts quickly.</a:t>
            </a:r>
          </a:p>
        </p:txBody>
      </p:sp>
      <p:sp>
        <p:nvSpPr>
          <p:cNvPr id="3" name="TextBox 2">
            <a:extLst>
              <a:ext uri="{FF2B5EF4-FFF2-40B4-BE49-F238E27FC236}">
                <a16:creationId xmlns:a16="http://schemas.microsoft.com/office/drawing/2014/main" id="{3847FA31-EA47-D27A-9D69-AF50A3080AEC}"/>
              </a:ext>
            </a:extLst>
          </p:cNvPr>
          <p:cNvSpPr txBox="1"/>
          <p:nvPr/>
        </p:nvSpPr>
        <p:spPr>
          <a:xfrm>
            <a:off x="576072" y="704088"/>
            <a:ext cx="7214616" cy="461665"/>
          </a:xfrm>
          <a:prstGeom prst="rect">
            <a:avLst/>
          </a:prstGeom>
          <a:noFill/>
        </p:spPr>
        <p:txBody>
          <a:bodyPr wrap="square" rtlCol="0">
            <a:spAutoFit/>
          </a:bodyPr>
          <a:lstStyle/>
          <a:p>
            <a:r>
              <a:rPr lang="en-US" sz="2400" b="1"/>
              <a:t>Problem Statement -</a:t>
            </a:r>
            <a:endParaRPr lang="en-IN" sz="2400" b="1"/>
          </a:p>
        </p:txBody>
      </p:sp>
    </p:spTree>
    <p:extLst>
      <p:ext uri="{BB962C8B-B14F-4D97-AF65-F5344CB8AC3E}">
        <p14:creationId xmlns:p14="http://schemas.microsoft.com/office/powerpoint/2010/main" val="29525842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471B467-61AA-7BCA-460D-43041E805F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1BF701-ABCA-4DF0-8330-B6AF71EF8E39}"/>
              </a:ext>
            </a:extLst>
          </p:cNvPr>
          <p:cNvSpPr txBox="1"/>
          <p:nvPr/>
        </p:nvSpPr>
        <p:spPr>
          <a:xfrm>
            <a:off x="576072" y="1234440"/>
            <a:ext cx="10607040" cy="5478423"/>
          </a:xfrm>
          <a:prstGeom prst="rect">
            <a:avLst/>
          </a:prstGeom>
          <a:noFill/>
        </p:spPr>
        <p:txBody>
          <a:bodyPr wrap="square" rtlCol="0">
            <a:spAutoFit/>
          </a:bodyPr>
          <a:lstStyle/>
          <a:p>
            <a:pPr fontAlgn="base"/>
            <a:endParaRPr lang="en-US" b="1" dirty="0"/>
          </a:p>
          <a:p>
            <a:r>
              <a:rPr lang="en-US" b="1" dirty="0"/>
              <a:t>Proposed Solution: AI-Powered Business Idea Generator</a:t>
            </a:r>
          </a:p>
          <a:p>
            <a:r>
              <a:rPr lang="en-IN" dirty="0"/>
              <a:t>The </a:t>
            </a:r>
            <a:r>
              <a:rPr lang="en-IN" b="1" dirty="0"/>
              <a:t>Smart Business Idea Generator</a:t>
            </a:r>
            <a:r>
              <a:rPr lang="en-IN" dirty="0"/>
              <a:t> is a web-based application that helps aspiring entrepreneurs, students, and startup enthusiasts discover innovative business ideas based on their interests. The system uses a predefined database of business ideas categorized into different industries such as Technology, Food, Education, Health, Finance, Fashion, and Environment. Users simply select a category and the application generates a unique business idea along with useful information such as investment requirements, difficulty level, and business potential.</a:t>
            </a:r>
          </a:p>
          <a:p>
            <a:r>
              <a:rPr lang="en-IN" dirty="0"/>
              <a:t>The application is developed using </a:t>
            </a:r>
            <a:r>
              <a:rPr lang="en-IN" b="1" dirty="0"/>
              <a:t>HTML, CSS, and JavaScript</a:t>
            </a:r>
            <a:r>
              <a:rPr lang="en-IN" dirty="0"/>
              <a:t>, making it lightweight, responsive, and easy to use without requiring any backend server or database.</a:t>
            </a:r>
          </a:p>
          <a:p>
            <a:pPr fontAlgn="base"/>
            <a:endParaRPr lang="en-US" dirty="0"/>
          </a:p>
          <a:p>
            <a:r>
              <a:rPr lang="en-IN" b="1" dirty="0"/>
              <a:t>Working of the System</a:t>
            </a:r>
          </a:p>
          <a:p>
            <a:r>
              <a:rPr lang="en-IN" dirty="0"/>
              <a:t>1. The user opens the website. </a:t>
            </a:r>
          </a:p>
          <a:p>
            <a:r>
              <a:rPr lang="en-IN" dirty="0"/>
              <a:t>2. The homepage displays different business categories. </a:t>
            </a:r>
          </a:p>
          <a:p>
            <a:r>
              <a:rPr lang="en-IN" dirty="0"/>
              <a:t>3. The user selects a preferred category. </a:t>
            </a:r>
          </a:p>
          <a:p>
            <a:r>
              <a:rPr lang="en-IN" dirty="0"/>
              <a:t>4. The user clicks the </a:t>
            </a:r>
            <a:r>
              <a:rPr lang="en-IN" b="1" dirty="0"/>
              <a:t>Generate Idea</a:t>
            </a:r>
            <a:r>
              <a:rPr lang="en-IN" dirty="0"/>
              <a:t> button. </a:t>
            </a:r>
          </a:p>
          <a:p>
            <a:r>
              <a:rPr lang="en-IN" dirty="0"/>
              <a:t>5. JavaScript randomly selects a business idea from the chosen category. </a:t>
            </a:r>
          </a:p>
          <a:p>
            <a:r>
              <a:rPr lang="en-IN" dirty="0"/>
              <a:t>6. The website displays: </a:t>
            </a:r>
          </a:p>
          <a:p>
            <a:pPr lvl="1"/>
            <a:r>
              <a:rPr lang="en-IN" dirty="0"/>
              <a:t>     - Business Name </a:t>
            </a:r>
          </a:p>
          <a:p>
            <a:pPr lvl="1"/>
            <a:r>
              <a:rPr lang="en-IN" dirty="0"/>
              <a:t>     - Description </a:t>
            </a:r>
          </a:p>
          <a:p>
            <a:pPr lvl="1"/>
            <a:r>
              <a:rPr lang="en-IN" dirty="0"/>
              <a:t>     - Estimated Investment </a:t>
            </a:r>
          </a:p>
          <a:p>
            <a:pPr lvl="1"/>
            <a:r>
              <a:rPr lang="en-IN" dirty="0"/>
              <a:t>     - Difficulty Level </a:t>
            </a:r>
          </a:p>
          <a:p>
            <a:pPr lvl="1"/>
            <a:r>
              <a:rPr lang="en-IN" dirty="0"/>
              <a:t>     - Business Potential Rating </a:t>
            </a:r>
          </a:p>
          <a:p>
            <a:r>
              <a:rPr lang="en-IN" dirty="0"/>
              <a:t>7. The user can generate another idea anytime.</a:t>
            </a:r>
          </a:p>
          <a:p>
            <a:pPr fontAlgn="base"/>
            <a:endParaRPr lang="en-US" dirty="0"/>
          </a:p>
          <a:p>
            <a:endParaRPr lang="en-IN" dirty="0"/>
          </a:p>
        </p:txBody>
      </p:sp>
      <p:sp>
        <p:nvSpPr>
          <p:cNvPr id="3" name="TextBox 2">
            <a:extLst>
              <a:ext uri="{FF2B5EF4-FFF2-40B4-BE49-F238E27FC236}">
                <a16:creationId xmlns:a16="http://schemas.microsoft.com/office/drawing/2014/main" id="{527F30CC-07EF-8FCC-DA00-C9212F5DAECE}"/>
              </a:ext>
            </a:extLst>
          </p:cNvPr>
          <p:cNvSpPr txBox="1"/>
          <p:nvPr/>
        </p:nvSpPr>
        <p:spPr>
          <a:xfrm>
            <a:off x="576072" y="704088"/>
            <a:ext cx="7214616" cy="461665"/>
          </a:xfrm>
          <a:prstGeom prst="rect">
            <a:avLst/>
          </a:prstGeom>
          <a:noFill/>
        </p:spPr>
        <p:txBody>
          <a:bodyPr wrap="square" rtlCol="0">
            <a:spAutoFit/>
          </a:bodyPr>
          <a:lstStyle/>
          <a:p>
            <a:r>
              <a:rPr lang="en-US" sz="2400" b="1"/>
              <a:t>Proposed Solution -</a:t>
            </a:r>
            <a:endParaRPr lang="en-IN" sz="2400" b="1"/>
          </a:p>
        </p:txBody>
      </p:sp>
    </p:spTree>
    <p:extLst>
      <p:ext uri="{BB962C8B-B14F-4D97-AF65-F5344CB8AC3E}">
        <p14:creationId xmlns:p14="http://schemas.microsoft.com/office/powerpoint/2010/main" val="22902949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777240" y="484632"/>
            <a:ext cx="7123176" cy="461665"/>
          </a:xfrm>
          <a:prstGeom prst="rect">
            <a:avLst/>
          </a:prstGeom>
          <a:noFill/>
        </p:spPr>
        <p:txBody>
          <a:bodyPr wrap="square" lIns="91440" tIns="45720" rIns="91440" bIns="45720" rtlCol="0" anchor="t">
            <a:spAutoFit/>
          </a:bodyPr>
          <a:lstStyle/>
          <a:p>
            <a:r>
              <a:rPr lang="en-US" sz="2400" b="1"/>
              <a:t>Technology Used</a:t>
            </a:r>
            <a:endParaRPr lang="en-IN" sz="2400" b="1"/>
          </a:p>
        </p:txBody>
      </p:sp>
      <p:sp>
        <p:nvSpPr>
          <p:cNvPr id="3" name="TextBox 2">
            <a:extLst>
              <a:ext uri="{FF2B5EF4-FFF2-40B4-BE49-F238E27FC236}">
                <a16:creationId xmlns:a16="http://schemas.microsoft.com/office/drawing/2014/main" id="{4A7608B5-9906-EFCF-959A-E89FC2E3EE19}"/>
              </a:ext>
            </a:extLst>
          </p:cNvPr>
          <p:cNvSpPr txBox="1"/>
          <p:nvPr/>
        </p:nvSpPr>
        <p:spPr>
          <a:xfrm>
            <a:off x="777240" y="1207008"/>
            <a:ext cx="10515600" cy="6340197"/>
          </a:xfrm>
          <a:prstGeom prst="rect">
            <a:avLst/>
          </a:prstGeom>
          <a:noFill/>
        </p:spPr>
        <p:txBody>
          <a:bodyPr wrap="square" lIns="91440" tIns="45720" rIns="91440" bIns="45720" rtlCol="0" anchor="t">
            <a:spAutoFit/>
          </a:bodyPr>
          <a:lstStyle/>
          <a:p>
            <a:pPr marL="285750" indent="-285750">
              <a:buFont typeface="Arial" panose="020B0604020202020204" pitchFamily="34" charset="0"/>
              <a:buChar char="•"/>
            </a:pPr>
            <a:r>
              <a:rPr lang="en-US" sz="1800" b="1" dirty="0" err="1"/>
              <a:t>Langflow</a:t>
            </a:r>
            <a:r>
              <a:rPr lang="en-US" sz="1800" b="1" dirty="0"/>
              <a:t> platform </a:t>
            </a:r>
            <a:r>
              <a:rPr lang="en-US" sz="1800" dirty="0"/>
              <a:t>-</a:t>
            </a:r>
            <a:r>
              <a:rPr lang="en-IN" sz="1800" dirty="0"/>
              <a:t>For designing and orchestrating the AI workflow visually. It helps build the logic flow of the </a:t>
            </a:r>
            <a:r>
              <a:rPr lang="en-IN" sz="1800" b="1" dirty="0"/>
              <a:t>Smart Business Idea Generator</a:t>
            </a:r>
            <a:r>
              <a:rPr lang="en-IN" sz="1800" dirty="0"/>
              <a:t> using an easy drag-and-drop interface and integrates AI components seamlessly.</a:t>
            </a:r>
            <a:endParaRPr lang="en-US" sz="1800" dirty="0"/>
          </a:p>
          <a:p>
            <a:pPr marL="285750" indent="-285750">
              <a:buFont typeface="Arial" panose="020B0604020202020204" pitchFamily="34" charset="0"/>
              <a:buChar char="•"/>
            </a:pPr>
            <a:r>
              <a:rPr lang="en-US" sz="1800" b="1" dirty="0"/>
              <a:t>IBM Granite model </a:t>
            </a:r>
            <a:r>
              <a:rPr lang="en-US" sz="1800" dirty="0"/>
              <a:t>-  </a:t>
            </a:r>
            <a:r>
              <a:rPr lang="en-IN" sz="1800" dirty="0"/>
              <a:t>For generating innovative, relevant, and personalized business ideas based on user inputs. It understands natural language, performs reasoning, and provides intelligent startup recommendations.</a:t>
            </a:r>
            <a:endParaRPr lang="en-US" sz="1800" dirty="0"/>
          </a:p>
          <a:p>
            <a:pPr marL="285750" indent="-285750">
              <a:buFont typeface="Arial" panose="020B0604020202020204" pitchFamily="34" charset="0"/>
              <a:buChar char="•"/>
            </a:pPr>
            <a:r>
              <a:rPr lang="en-US" sz="1800" b="1" dirty="0"/>
              <a:t>IBM Cloud </a:t>
            </a:r>
            <a:r>
              <a:rPr lang="en-US" sz="1800" dirty="0"/>
              <a:t>– </a:t>
            </a:r>
            <a:r>
              <a:rPr lang="en-IN" sz="1800" dirty="0"/>
              <a:t>It provides the infrastructure to build, deploy, and scale the Smart Business Idea Generator efficiently. IBM Cloud offers a </a:t>
            </a:r>
            <a:r>
              <a:rPr lang="en-IN" sz="1800" b="1" dirty="0"/>
              <a:t>reliable, secure, and scalable environment</a:t>
            </a:r>
            <a:r>
              <a:rPr lang="en-IN" sz="1800" dirty="0"/>
              <a:t> for hosting AI services and the web application.</a:t>
            </a:r>
            <a:endParaRPr lang="en-US" sz="1800" dirty="0"/>
          </a:p>
          <a:p>
            <a:pPr marL="285750" indent="-285750">
              <a:buFont typeface="Arial" panose="020B0604020202020204" pitchFamily="34" charset="0"/>
              <a:buChar char="•"/>
            </a:pPr>
            <a:r>
              <a:rPr lang="en-US" sz="1800" b="1" dirty="0"/>
              <a:t>RAG– </a:t>
            </a:r>
            <a:r>
              <a:rPr lang="en-IN" sz="1800" dirty="0"/>
              <a:t>RAG retrieves relevant business knowledge, market trends, and startup information before generating responses, making the generated business ideas more </a:t>
            </a:r>
            <a:r>
              <a:rPr lang="en-IN" sz="1800" b="1" dirty="0"/>
              <a:t>accurate, context-aware, and trustworthy</a:t>
            </a:r>
            <a:r>
              <a:rPr lang="en-IN" sz="1800" dirty="0"/>
              <a:t>.</a:t>
            </a:r>
            <a:endParaRPr lang="en-US" sz="1800" dirty="0"/>
          </a:p>
          <a:p>
            <a:pPr marL="285750" indent="-285750">
              <a:buFont typeface="Arial" panose="020B0604020202020204" pitchFamily="34" charset="0"/>
              <a:buChar char="•"/>
            </a:pPr>
            <a:r>
              <a:rPr lang="en-US" sz="1800" b="1" dirty="0"/>
              <a:t>IBM Watsonx.ai - </a:t>
            </a:r>
            <a:r>
              <a:rPr lang="en-IN" sz="1800" dirty="0"/>
              <a:t>Used for AI model deployment, prompt management, embeddings, and AI governance. It enables the integration of IBM Granite models and ensures responsible, enterprise-grade AI capabilities.</a:t>
            </a:r>
            <a:endParaRPr lang="en-US" sz="1800" dirty="0"/>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IN" sz="1800" b="1" dirty="0"/>
              <a:t>Vector Database </a:t>
            </a:r>
            <a:r>
              <a:rPr lang="en-IN" sz="1800" dirty="0"/>
              <a:t>(FAISS/Chroma) – Stores and retrieves business-related documents, startup examples, industry trends, and market insights to support RAG and improve the quality of AI-generated suggestions.</a:t>
            </a:r>
            <a:endParaRPr lang="en-US" sz="1800" dirty="0"/>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endParaRPr lang="en-US" sz="1800" dirty="0"/>
          </a:p>
          <a:p>
            <a:endParaRPr lang="en-US" dirty="0"/>
          </a:p>
          <a:p>
            <a:endParaRPr lang="en-IN" dirty="0"/>
          </a:p>
        </p:txBody>
      </p:sp>
    </p:spTree>
    <p:extLst>
      <p:ext uri="{BB962C8B-B14F-4D97-AF65-F5344CB8AC3E}">
        <p14:creationId xmlns:p14="http://schemas.microsoft.com/office/powerpoint/2010/main" val="37644058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CDF2A78E-5A0E-6814-8AF4-0AE54B0366E1}"/>
            </a:ext>
          </a:extLst>
        </p:cNvPr>
        <p:cNvGrpSpPr/>
        <p:nvPr/>
      </p:nvGrpSpPr>
      <p:grpSpPr>
        <a:xfrm>
          <a:off x="0" y="0"/>
          <a:ext cx="0" cy="0"/>
          <a:chOff x="0" y="0"/>
          <a:chExt cx="0" cy="0"/>
        </a:xfrm>
      </p:grpSpPr>
      <p:sp>
        <p:nvSpPr>
          <p:cNvPr id="135" name="Google Shape;135;p5">
            <a:extLst>
              <a:ext uri="{FF2B5EF4-FFF2-40B4-BE49-F238E27FC236}">
                <a16:creationId xmlns:a16="http://schemas.microsoft.com/office/drawing/2014/main" id="{2A145802-2DD3-EEBA-7D44-210C05B98C91}"/>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err="1">
                <a:sym typeface="Times New Roman"/>
              </a:rPr>
              <a:t>Langflow</a:t>
            </a:r>
            <a:r>
              <a:rPr lang="en-US" sz="3500" b="1" i="0" u="none" strike="noStrike" cap="none">
                <a:solidFill>
                  <a:srgbClr val="051D3A"/>
                </a:solidFill>
                <a:latin typeface="Times New Roman"/>
                <a:ea typeface="Times New Roman"/>
                <a:cs typeface="Times New Roman"/>
                <a:sym typeface="Times New Roman"/>
              </a:rPr>
              <a:t> </a:t>
            </a:r>
            <a:r>
              <a:rPr lang="en-US" sz="2400" b="1">
                <a:sym typeface="Times New Roman"/>
              </a:rPr>
              <a:t>component Used -</a:t>
            </a:r>
            <a:endParaRPr sz="2400" b="1">
              <a:sym typeface="Times New Roman"/>
            </a:endParaRPr>
          </a:p>
        </p:txBody>
      </p:sp>
      <p:sp>
        <p:nvSpPr>
          <p:cNvPr id="148" name="Google Shape;148;p5">
            <a:extLst>
              <a:ext uri="{FF2B5EF4-FFF2-40B4-BE49-F238E27FC236}">
                <a16:creationId xmlns:a16="http://schemas.microsoft.com/office/drawing/2014/main" id="{69E3EADC-1EAD-7419-145C-20998925206E}"/>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a16="http://schemas.microsoft.com/office/drawing/2014/main" id="{04E5872A-C331-C8F3-5D71-8E953BAAFE03}"/>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a16="http://schemas.microsoft.com/office/drawing/2014/main" id="{76EF3801-5D99-5EFA-9AA2-AD265775E354}"/>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a16="http://schemas.microsoft.com/office/drawing/2014/main" id="{DAD76A8A-9F2C-9EA9-25E9-40CD0FFAA869}"/>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a16="http://schemas.microsoft.com/office/drawing/2014/main" id="{8D9C4260-2673-337C-C898-4C22E0F8FD65}"/>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a16="http://schemas.microsoft.com/office/drawing/2014/main" id="{6167C3C6-3747-E373-84C3-3927C443B067}"/>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9BB86949-7ED1-C43B-B1E3-5122BB67A596}"/>
              </a:ext>
            </a:extLst>
          </p:cNvPr>
          <p:cNvSpPr txBox="1"/>
          <p:nvPr/>
        </p:nvSpPr>
        <p:spPr>
          <a:xfrm>
            <a:off x="474822" y="863187"/>
            <a:ext cx="8823960" cy="6771084"/>
          </a:xfrm>
          <a:prstGeom prst="rect">
            <a:avLst/>
          </a:prstGeom>
          <a:noFill/>
        </p:spPr>
        <p:txBody>
          <a:bodyPr wrap="square" rtlCol="0">
            <a:spAutoFit/>
          </a:bodyPr>
          <a:lstStyle/>
          <a:p>
            <a:endParaRPr lang="en-US" dirty="0"/>
          </a:p>
          <a:p>
            <a:r>
              <a:rPr lang="en-IN" b="1" dirty="0"/>
              <a:t>1) Chat Input</a:t>
            </a:r>
            <a:r>
              <a:rPr lang="en-IN" dirty="0"/>
              <a:t> – Acts as the user interface where users enter their business requirements, such as industry, investment budget, skills, target audience, or startup preferences. The input is sent to the AI workflow for processing.</a:t>
            </a:r>
          </a:p>
          <a:p>
            <a:endParaRPr lang="en-IN" dirty="0"/>
          </a:p>
          <a:p>
            <a:r>
              <a:rPr lang="en-IN" b="1" dirty="0"/>
              <a:t>2) IBM </a:t>
            </a:r>
            <a:r>
              <a:rPr lang="en-IN" b="1" dirty="0" err="1"/>
              <a:t>watsonx</a:t>
            </a:r>
            <a:r>
              <a:rPr lang="en-IN" b="1" dirty="0"/>
              <a:t> AI Agent</a:t>
            </a:r>
            <a:r>
              <a:rPr lang="en-IN" dirty="0"/>
              <a:t> – Receives the user's request and coordinates the AI workflow. It communicates with the IBM Granite model, processes prompts, and generates intelligent, context-aware business ideas and recommendations.</a:t>
            </a:r>
          </a:p>
          <a:p>
            <a:endParaRPr lang="en-IN" dirty="0"/>
          </a:p>
          <a:p>
            <a:r>
              <a:rPr lang="en-IN" b="1" dirty="0"/>
              <a:t>3) IBM Granite Model (e.g., Granite-3.2-8B-Instruct / Granite-4.0-8B-Instruct)</a:t>
            </a:r>
            <a:r>
              <a:rPr lang="en-IN" dirty="0"/>
              <a:t> – Serves as the core Large Language Model (LLM). It understands user queries, performs reasoning, and generates innovative business ideas, investment suggestions, revenue models, and implementation strategies.</a:t>
            </a:r>
          </a:p>
          <a:p>
            <a:endParaRPr lang="en-IN" dirty="0"/>
          </a:p>
          <a:p>
            <a:r>
              <a:rPr lang="en-IN" b="1" dirty="0"/>
              <a:t>4) Prompt Template</a:t>
            </a:r>
            <a:r>
              <a:rPr lang="en-IN" dirty="0"/>
              <a:t> – Structures the user's query into a well-defined prompt before sending it to the AI model. This ensures consistent, accurate, and high-quality responses from the IBM Granite model.</a:t>
            </a:r>
          </a:p>
          <a:p>
            <a:endParaRPr lang="en-IN" dirty="0"/>
          </a:p>
          <a:p>
            <a:r>
              <a:rPr lang="en-IN" b="1" dirty="0"/>
              <a:t>5) Chat Output</a:t>
            </a:r>
            <a:r>
              <a:rPr lang="en-IN" dirty="0"/>
              <a:t> – Displays the AI-generated results, including the business idea, business description, estimated investment, target market, revenue model, growth opportunities, and additional startup recommendations.</a:t>
            </a:r>
          </a:p>
          <a:p>
            <a:endParaRPr lang="en-IN" dirty="0"/>
          </a:p>
          <a:p>
            <a:r>
              <a:rPr lang="en-IN" b="1" dirty="0"/>
              <a:t>6) File Component / Knowledge Base</a:t>
            </a:r>
            <a:r>
              <a:rPr lang="en-IN" dirty="0"/>
              <a:t> – Stores and retrieves business-related documents, startup case studies, market trends, and industry insights. This information is used by the RAG pipeline to enhance the quality and accuracy of AI-generated responses.</a:t>
            </a:r>
          </a:p>
          <a:p>
            <a:endParaRPr lang="en-US" dirty="0"/>
          </a:p>
          <a:p>
            <a:endParaRPr lang="en-US" dirty="0"/>
          </a:p>
          <a:p>
            <a:endParaRPr lang="en-US" dirty="0"/>
          </a:p>
          <a:p>
            <a:endParaRPr lang="en-US" dirty="0"/>
          </a:p>
          <a:p>
            <a:endParaRPr lang="en-US" dirty="0"/>
          </a:p>
          <a:p>
            <a:endParaRPr lang="en-US" dirty="0"/>
          </a:p>
          <a:p>
            <a:endParaRPr lang="en-US" dirty="0"/>
          </a:p>
          <a:p>
            <a:r>
              <a:rPr lang="en-US" dirty="0"/>
              <a:t> </a:t>
            </a:r>
            <a:endParaRPr lang="en-IN" dirty="0"/>
          </a:p>
        </p:txBody>
      </p:sp>
    </p:spTree>
    <p:extLst>
      <p:ext uri="{BB962C8B-B14F-4D97-AF65-F5344CB8AC3E}">
        <p14:creationId xmlns:p14="http://schemas.microsoft.com/office/powerpoint/2010/main" val="3285263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CA6090C0-0478-84F9-6D20-717B6FEB7326}"/>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B64CF172-D2AF-03D8-F919-AA7827A0D969}"/>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dirty="0">
                <a:sym typeface="Times New Roman"/>
              </a:rPr>
              <a:t>Working -</a:t>
            </a:r>
            <a:endParaRPr sz="2400" b="1" dirty="0">
              <a:sym typeface="Times New Roman"/>
            </a:endParaRPr>
          </a:p>
        </p:txBody>
      </p:sp>
      <p:pic>
        <p:nvPicPr>
          <p:cNvPr id="4" name="Picture 3" descr="A screenshot of a computer&#10;&#10;AI-generated content may be incorrect.">
            <a:extLst>
              <a:ext uri="{FF2B5EF4-FFF2-40B4-BE49-F238E27FC236}">
                <a16:creationId xmlns:a16="http://schemas.microsoft.com/office/drawing/2014/main" id="{C597681A-DF93-B190-DD21-CBAEDA4E3CBF}"/>
              </a:ext>
            </a:extLst>
          </p:cNvPr>
          <p:cNvPicPr>
            <a:picLocks noChangeAspect="1"/>
          </p:cNvPicPr>
          <p:nvPr/>
        </p:nvPicPr>
        <p:blipFill>
          <a:blip r:embed="rId3"/>
          <a:stretch>
            <a:fillRect/>
          </a:stretch>
        </p:blipFill>
        <p:spPr>
          <a:xfrm>
            <a:off x="535570" y="1139263"/>
            <a:ext cx="11468100" cy="5505450"/>
          </a:xfrm>
          <a:prstGeom prst="rect">
            <a:avLst/>
          </a:prstGeom>
        </p:spPr>
      </p:pic>
      <p:pic>
        <p:nvPicPr>
          <p:cNvPr id="5" name="Picture 4">
            <a:extLst>
              <a:ext uri="{FF2B5EF4-FFF2-40B4-BE49-F238E27FC236}">
                <a16:creationId xmlns:a16="http://schemas.microsoft.com/office/drawing/2014/main" id="{444902CE-00BF-BD90-6BDC-4B95F7F3FE7F}"/>
              </a:ext>
            </a:extLst>
          </p:cNvPr>
          <p:cNvPicPr>
            <a:picLocks noChangeAspect="1"/>
          </p:cNvPicPr>
          <p:nvPr/>
        </p:nvPicPr>
        <p:blipFill>
          <a:blip r:embed="rId4"/>
          <a:stretch>
            <a:fillRect/>
          </a:stretch>
        </p:blipFill>
        <p:spPr>
          <a:xfrm>
            <a:off x="535570" y="1139263"/>
            <a:ext cx="11468100" cy="5405470"/>
          </a:xfrm>
          <a:prstGeom prst="rect">
            <a:avLst/>
          </a:prstGeom>
        </p:spPr>
      </p:pic>
    </p:spTree>
    <p:extLst>
      <p:ext uri="{BB962C8B-B14F-4D97-AF65-F5344CB8AC3E}">
        <p14:creationId xmlns:p14="http://schemas.microsoft.com/office/powerpoint/2010/main" val="27725019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pic>
        <p:nvPicPr>
          <p:cNvPr id="196" name="Google Shape;196;p9"/>
          <p:cNvPicPr preferRelativeResize="0"/>
          <p:nvPr/>
        </p:nvPicPr>
        <p:blipFill rotWithShape="1">
          <a:blip r:embed="rId3">
            <a:alphaModFix/>
          </a:blip>
          <a:srcRect/>
          <a:stretch/>
        </p:blipFill>
        <p:spPr>
          <a:xfrm>
            <a:off x="8371985" y="1167493"/>
            <a:ext cx="3015343" cy="4523014"/>
          </a:xfrm>
          <a:prstGeom prst="rect">
            <a:avLst/>
          </a:prstGeom>
          <a:noFill/>
          <a:ln>
            <a:noFill/>
          </a:ln>
        </p:spPr>
      </p:pic>
      <p:sp>
        <p:nvSpPr>
          <p:cNvPr id="2" name="TextBox 1">
            <a:extLst>
              <a:ext uri="{FF2B5EF4-FFF2-40B4-BE49-F238E27FC236}">
                <a16:creationId xmlns:a16="http://schemas.microsoft.com/office/drawing/2014/main" id="{B84A7B44-8B20-5A39-ED43-DA98D0FC7976}"/>
              </a:ext>
            </a:extLst>
          </p:cNvPr>
          <p:cNvSpPr txBox="1"/>
          <p:nvPr/>
        </p:nvSpPr>
        <p:spPr>
          <a:xfrm>
            <a:off x="475488" y="283464"/>
            <a:ext cx="9317736" cy="584775"/>
          </a:xfrm>
          <a:prstGeom prst="rect">
            <a:avLst/>
          </a:prstGeom>
          <a:noFill/>
        </p:spPr>
        <p:txBody>
          <a:bodyPr wrap="square" rtlCol="0">
            <a:spAutoFit/>
          </a:bodyPr>
          <a:lstStyle/>
          <a:p>
            <a:r>
              <a:rPr lang="en-US" sz="3200" b="1"/>
              <a:t>Role of Agentic AI in the solution </a:t>
            </a:r>
            <a:endParaRPr lang="en-IN" sz="3200" b="1"/>
          </a:p>
        </p:txBody>
      </p:sp>
      <p:sp>
        <p:nvSpPr>
          <p:cNvPr id="3" name="TextBox 2">
            <a:extLst>
              <a:ext uri="{FF2B5EF4-FFF2-40B4-BE49-F238E27FC236}">
                <a16:creationId xmlns:a16="http://schemas.microsoft.com/office/drawing/2014/main" id="{322462E8-EB3A-DA7D-44CB-4E757803A755}"/>
              </a:ext>
            </a:extLst>
          </p:cNvPr>
          <p:cNvSpPr txBox="1"/>
          <p:nvPr/>
        </p:nvSpPr>
        <p:spPr>
          <a:xfrm>
            <a:off x="621792" y="1167493"/>
            <a:ext cx="7406640" cy="4832092"/>
          </a:xfrm>
          <a:prstGeom prst="rect">
            <a:avLst/>
          </a:prstGeom>
          <a:noFill/>
        </p:spPr>
        <p:txBody>
          <a:bodyPr wrap="square" rtlCol="0">
            <a:spAutoFit/>
          </a:bodyPr>
          <a:lstStyle/>
          <a:p>
            <a:r>
              <a:rPr lang="en-IN" b="1" dirty="0"/>
              <a:t>Role of Agentic AI in the Smart Business Idea Generator</a:t>
            </a:r>
          </a:p>
          <a:p>
            <a:r>
              <a:rPr lang="en-IN" dirty="0"/>
              <a:t>Agentic AI acts as the intelligent decision-making engine of the </a:t>
            </a:r>
            <a:r>
              <a:rPr lang="en-IN" b="1" dirty="0"/>
              <a:t>Smart Business Idea Generator</a:t>
            </a:r>
            <a:r>
              <a:rPr lang="en-IN" dirty="0"/>
              <a:t>. Unlike a traditional AI model that only answers questions, Agentic AI can understand user goals, plan multiple steps, retrieve relevant business knowledge, reason over the information, and generate personalized business recommendations. It coordinates different components such as the AI model, retrieval system, and knowledge base to provide accurate and context-aware startup ideas.</a:t>
            </a:r>
          </a:p>
          <a:p>
            <a:endParaRPr lang="en-IN" dirty="0"/>
          </a:p>
          <a:p>
            <a:r>
              <a:rPr lang="en-IN" b="1" dirty="0"/>
              <a:t>Key Roles of Agentic AI</a:t>
            </a:r>
          </a:p>
          <a:p>
            <a:r>
              <a:rPr lang="en-IN" b="1" dirty="0"/>
              <a:t>Understands User Requirements:</a:t>
            </a:r>
            <a:r>
              <a:rPr lang="en-IN" dirty="0"/>
              <a:t> </a:t>
            </a:r>
            <a:r>
              <a:rPr lang="en-IN" dirty="0" err="1"/>
              <a:t>Analyzes</a:t>
            </a:r>
            <a:r>
              <a:rPr lang="en-IN" dirty="0"/>
              <a:t> the user's business interests, investment budget, skills, target market, and preferences to determine the most suitable business opportunities. </a:t>
            </a:r>
          </a:p>
          <a:p>
            <a:r>
              <a:rPr lang="en-IN" b="1" dirty="0"/>
              <a:t>Plans the Workflow:</a:t>
            </a:r>
            <a:r>
              <a:rPr lang="en-IN" dirty="0"/>
              <a:t> Decides the sequence of actions required to answer the user's request, such as retrieving market information, querying the knowledge base, and generating business ideas. </a:t>
            </a:r>
          </a:p>
          <a:p>
            <a:r>
              <a:rPr lang="en-IN" b="1" dirty="0"/>
              <a:t>Retrieves Relevant Information:</a:t>
            </a:r>
            <a:r>
              <a:rPr lang="en-IN" dirty="0"/>
              <a:t> Uses Retrieval-Augmented Generation (RAG) to search business documents, startup case studies, and market trends from the vector database before generating a response. </a:t>
            </a:r>
          </a:p>
          <a:p>
            <a:r>
              <a:rPr lang="en-IN" b="1" dirty="0"/>
              <a:t>Generates Personalized Business Ideas:</a:t>
            </a:r>
            <a:r>
              <a:rPr lang="en-IN" dirty="0"/>
              <a:t> Utilizes the IBM Granite model to produce innovative and customized business ideas based on the user's requirements and retrieved context. </a:t>
            </a:r>
          </a:p>
          <a:p>
            <a:endParaRPr lang="en-IN"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7BB3C0CA-2F24-30DF-1D65-4440B864F08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187EEB9C-2E84-113A-3CE6-1507BF5B039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a:sym typeface="Times New Roman"/>
              </a:rPr>
              <a:t>Git Hub Link</a:t>
            </a:r>
            <a:endParaRPr sz="2400" b="1">
              <a:sym typeface="Times New Roman"/>
            </a:endParaRPr>
          </a:p>
        </p:txBody>
      </p:sp>
      <p:sp>
        <p:nvSpPr>
          <p:cNvPr id="279" name="Google Shape;279;p18">
            <a:extLst>
              <a:ext uri="{FF2B5EF4-FFF2-40B4-BE49-F238E27FC236}">
                <a16:creationId xmlns:a16="http://schemas.microsoft.com/office/drawing/2014/main" id="{3711AF54-94A6-B837-31EF-9A8C4ECB9AF6}"/>
              </a:ext>
            </a:extLst>
          </p:cNvPr>
          <p:cNvSpPr/>
          <p:nvPr/>
        </p:nvSpPr>
        <p:spPr>
          <a:xfrm>
            <a:off x="1218724" y="1153712"/>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Please create public </a:t>
            </a:r>
            <a:r>
              <a:rPr lang="en-US" sz="1850" b="0" i="0" u="none" strike="noStrike" cap="none" dirty="0" err="1">
                <a:solidFill>
                  <a:srgbClr val="2B3541"/>
                </a:solidFill>
                <a:latin typeface="Times New Roman"/>
                <a:ea typeface="Times New Roman"/>
                <a:cs typeface="Times New Roman"/>
                <a:sym typeface="Times New Roman"/>
              </a:rPr>
              <a:t>github</a:t>
            </a:r>
            <a:r>
              <a:rPr lang="en-US" sz="1850" b="0" i="0" u="none" strike="noStrike" cap="none" dirty="0">
                <a:solidFill>
                  <a:srgbClr val="2B3541"/>
                </a:solidFill>
                <a:latin typeface="Times New Roman"/>
                <a:ea typeface="Times New Roman"/>
                <a:cs typeface="Times New Roman"/>
                <a:sym typeface="Times New Roman"/>
              </a:rPr>
              <a:t> repository (Enable Add README  button while creating repository) with format – </a:t>
            </a:r>
          </a:p>
          <a:p>
            <a:pPr lvl="0">
              <a:lnSpc>
                <a:spcPct val="162162"/>
              </a:lnSpc>
              <a:buClr>
                <a:srgbClr val="2B3541"/>
              </a:buClr>
              <a:buSzPts val="1850"/>
            </a:pPr>
            <a:r>
              <a:rPr lang="en-US" sz="1850" dirty="0">
                <a:solidFill>
                  <a:srgbClr val="2B3541"/>
                </a:solidFill>
                <a:latin typeface="Times New Roman"/>
                <a:ea typeface="Times New Roman"/>
                <a:cs typeface="Times New Roman"/>
                <a:sym typeface="Times New Roman"/>
              </a:rPr>
              <a:t>Please test and Paste the working  </a:t>
            </a:r>
            <a:r>
              <a:rPr lang="en-US" sz="1850" dirty="0" err="1">
                <a:solidFill>
                  <a:srgbClr val="2B3541"/>
                </a:solidFill>
                <a:latin typeface="Times New Roman"/>
                <a:ea typeface="Times New Roman"/>
                <a:cs typeface="Times New Roman"/>
                <a:sym typeface="Times New Roman"/>
              </a:rPr>
              <a:t>Github</a:t>
            </a:r>
            <a:r>
              <a:rPr lang="en-US" sz="1850" dirty="0">
                <a:solidFill>
                  <a:srgbClr val="2B3541"/>
                </a:solidFill>
                <a:latin typeface="Times New Roman"/>
                <a:ea typeface="Times New Roman"/>
                <a:cs typeface="Times New Roman"/>
                <a:sym typeface="Times New Roman"/>
              </a:rPr>
              <a:t> URL – https://github.com/atharvnalwade-oss/smart-business-idea</a:t>
            </a:r>
            <a:endParaRPr lang="en-US" sz="1850" dirty="0">
              <a:solidFill>
                <a:srgbClr val="2B3541"/>
              </a:solidFill>
              <a:latin typeface="Times New Roman"/>
              <a:ea typeface="Times New Roman"/>
              <a:cs typeface="Times New Roman"/>
            </a:endParaRPr>
          </a:p>
          <a:p>
            <a:pPr lvl="0">
              <a:lnSpc>
                <a:spcPct val="162162"/>
              </a:lnSpc>
              <a:buClr>
                <a:srgbClr val="2B3541"/>
              </a:buClr>
              <a:buSzPts val="1850"/>
            </a:pPr>
            <a:r>
              <a:rPr lang="en-US" sz="1850" b="1" dirty="0">
                <a:solidFill>
                  <a:srgbClr val="2B3541"/>
                </a:solidFill>
                <a:latin typeface="Times New Roman"/>
                <a:ea typeface="Times New Roman"/>
                <a:cs typeface="Times New Roman"/>
                <a:sym typeface="Times New Roman"/>
              </a:rPr>
              <a:t>Make sure you have Uploaded following three files into your </a:t>
            </a:r>
            <a:r>
              <a:rPr lang="en-US" sz="1850" b="1" dirty="0" err="1">
                <a:solidFill>
                  <a:srgbClr val="2B3541"/>
                </a:solidFill>
                <a:latin typeface="Times New Roman"/>
                <a:ea typeface="Times New Roman"/>
                <a:cs typeface="Times New Roman"/>
                <a:sym typeface="Times New Roman"/>
              </a:rPr>
              <a:t>github</a:t>
            </a:r>
            <a:r>
              <a:rPr lang="en-US" sz="1850" b="1" dirty="0">
                <a:solidFill>
                  <a:srgbClr val="2B3541"/>
                </a:solidFill>
                <a:latin typeface="Times New Roman"/>
                <a:ea typeface="Times New Roman"/>
                <a:cs typeface="Times New Roman"/>
                <a:sym typeface="Times New Roman"/>
              </a:rPr>
              <a:t> repository  </a:t>
            </a:r>
            <a:br>
              <a:rPr lang="en-US" sz="1850" dirty="0">
                <a:latin typeface="Times New Roman"/>
                <a:ea typeface="Times New Roman"/>
                <a:cs typeface="Times New Roman"/>
              </a:rPr>
            </a:br>
            <a:r>
              <a:rPr lang="en-US" sz="1850" dirty="0">
                <a:solidFill>
                  <a:srgbClr val="2B3541"/>
                </a:solidFill>
                <a:latin typeface="Times New Roman"/>
                <a:ea typeface="Times New Roman"/>
                <a:cs typeface="Times New Roman"/>
                <a:sym typeface="Times New Roman"/>
              </a:rPr>
              <a:t>1) </a:t>
            </a:r>
            <a:r>
              <a:rPr lang="en-US" sz="1850" dirty="0" err="1">
                <a:solidFill>
                  <a:srgbClr val="2B3541"/>
                </a:solidFill>
                <a:latin typeface="Times New Roman"/>
                <a:ea typeface="Times New Roman"/>
                <a:cs typeface="Times New Roman"/>
                <a:sym typeface="Times New Roman"/>
              </a:rPr>
              <a:t>app.json</a:t>
            </a:r>
            <a:r>
              <a:rPr lang="en-US" sz="1850" dirty="0">
                <a:solidFill>
                  <a:srgbClr val="2B3541"/>
                </a:solidFill>
                <a:latin typeface="Times New Roman"/>
                <a:ea typeface="Times New Roman"/>
                <a:cs typeface="Times New Roman"/>
                <a:sym typeface="Times New Roman"/>
              </a:rPr>
              <a:t> file , 2) yourproblemstatement.pdf file  3) your projectpresntation.pptx file 4)any other files </a:t>
            </a:r>
            <a:endParaRPr lang="en-US" sz="1850" dirty="0">
              <a:solidFill>
                <a:srgbClr val="2B3541"/>
              </a:solidFill>
              <a:latin typeface="Times New Roman"/>
              <a:ea typeface="Times New Roman"/>
              <a:cs typeface="Times New Roman"/>
            </a:endParaRPr>
          </a:p>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E228982D-BF81-530A-CBA1-E897A3CA8EF7}"/>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7BC356B8-92F8-3187-D065-667AACF68E72}"/>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1558A011-60D6-B010-6117-1B9F7C786B2B}"/>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6058519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A184BA-BCF2-3D7B-30D0-0F3CF30C161B}"/>
              </a:ext>
            </a:extLst>
          </p:cNvPr>
          <p:cNvSpPr txBox="1"/>
          <p:nvPr/>
        </p:nvSpPr>
        <p:spPr>
          <a:xfrm>
            <a:off x="777240" y="484632"/>
            <a:ext cx="7123176" cy="461665"/>
          </a:xfrm>
          <a:prstGeom prst="rect">
            <a:avLst/>
          </a:prstGeom>
          <a:noFill/>
        </p:spPr>
        <p:txBody>
          <a:bodyPr wrap="square" rtlCol="0">
            <a:spAutoFit/>
          </a:bodyPr>
          <a:lstStyle/>
          <a:p>
            <a:r>
              <a:rPr lang="en-US" sz="2400" b="1"/>
              <a:t>Novelty and Uniqueness</a:t>
            </a:r>
            <a:endParaRPr lang="en-IN" sz="2400" b="1"/>
          </a:p>
        </p:txBody>
      </p:sp>
      <p:sp>
        <p:nvSpPr>
          <p:cNvPr id="3" name="TextBox 2">
            <a:extLst>
              <a:ext uri="{FF2B5EF4-FFF2-40B4-BE49-F238E27FC236}">
                <a16:creationId xmlns:a16="http://schemas.microsoft.com/office/drawing/2014/main" id="{ED65F54F-855A-0DB6-09A6-3212C5F7405B}"/>
              </a:ext>
            </a:extLst>
          </p:cNvPr>
          <p:cNvSpPr txBox="1"/>
          <p:nvPr/>
        </p:nvSpPr>
        <p:spPr>
          <a:xfrm>
            <a:off x="777240" y="1207008"/>
            <a:ext cx="11301984" cy="5539978"/>
          </a:xfrm>
          <a:prstGeom prst="rect">
            <a:avLst/>
          </a:prstGeom>
          <a:noFill/>
        </p:spPr>
        <p:txBody>
          <a:bodyPr wrap="square" rtlCol="0">
            <a:spAutoFit/>
          </a:bodyPr>
          <a:lstStyle/>
          <a:p>
            <a:r>
              <a:rPr lang="en-IN" sz="1800" b="1" dirty="0"/>
              <a:t>Novelty</a:t>
            </a:r>
          </a:p>
          <a:p>
            <a:r>
              <a:rPr lang="en-IN" sz="1600" dirty="0"/>
              <a:t>The </a:t>
            </a:r>
            <a:r>
              <a:rPr lang="en-IN" sz="1600" b="1" dirty="0"/>
              <a:t>Smart Business Idea Generator</a:t>
            </a:r>
            <a:r>
              <a:rPr lang="en-IN" sz="1600" dirty="0"/>
              <a:t> is a novel AI-powered application that goes beyond traditional business idea generators by using </a:t>
            </a:r>
            <a:r>
              <a:rPr lang="en-IN" sz="1600" b="1" dirty="0"/>
              <a:t>Agentic AI</a:t>
            </a:r>
            <a:r>
              <a:rPr lang="en-IN" sz="1600" dirty="0"/>
              <a:t>, </a:t>
            </a:r>
            <a:r>
              <a:rPr lang="en-IN" sz="1600" b="1" dirty="0"/>
              <a:t>IBM watsonx.ai</a:t>
            </a:r>
            <a:r>
              <a:rPr lang="en-IN" sz="1600" dirty="0"/>
              <a:t>, </a:t>
            </a:r>
            <a:r>
              <a:rPr lang="en-IN" sz="1600" b="1" dirty="0"/>
              <a:t>IBM Granite models</a:t>
            </a:r>
            <a:r>
              <a:rPr lang="en-IN" sz="1600" dirty="0"/>
              <a:t>, and </a:t>
            </a:r>
            <a:r>
              <a:rPr lang="en-IN" sz="1600" b="1" dirty="0"/>
              <a:t>Retrieval-Augmented Generation (RAG)</a:t>
            </a:r>
            <a:r>
              <a:rPr lang="en-IN" sz="1600" dirty="0"/>
              <a:t>. Instead of displaying a fixed list of business ideas, the system intelligently understands the user's requirements, retrieves relevant business knowledge, reasons over the information, and generates personalized startup recommendations.</a:t>
            </a:r>
          </a:p>
          <a:p>
            <a:r>
              <a:rPr lang="en-IN" sz="1600" dirty="0"/>
              <a:t>The integration of AI reasoning with real-time knowledge retrieval ensures that users receive practical, context-aware, and innovative business ideas tailored to their interests, skills, investment capacity, and market trends.</a:t>
            </a:r>
          </a:p>
          <a:p>
            <a:endParaRPr lang="en-IN" sz="1600" dirty="0"/>
          </a:p>
          <a:p>
            <a:r>
              <a:rPr lang="en-IN" sz="1800" b="1" dirty="0"/>
              <a:t>Uniqueness</a:t>
            </a:r>
          </a:p>
          <a:p>
            <a:r>
              <a:rPr lang="en-IN" sz="1600" b="1" dirty="0"/>
              <a:t>Agentic AI-Based Decision Making:</a:t>
            </a:r>
            <a:r>
              <a:rPr lang="en-IN" sz="1600" dirty="0"/>
              <a:t> Uses Agentic AI to understand user goals, plan the workflow, retrieve knowledge, and generate intelligent business recommendations. </a:t>
            </a:r>
          </a:p>
          <a:p>
            <a:r>
              <a:rPr lang="en-IN" sz="1600" b="1" dirty="0"/>
              <a:t>Personalized Business Ideas:</a:t>
            </a:r>
            <a:r>
              <a:rPr lang="en-IN" sz="1600" dirty="0"/>
              <a:t> Generates customized startup ideas based on user preferences such as industry, investment budget, skills, and target audience instead of providing generic suggestions. </a:t>
            </a:r>
          </a:p>
          <a:p>
            <a:r>
              <a:rPr lang="en-IN" sz="1600" b="1" dirty="0"/>
              <a:t>IBM Granite Large Language Model:</a:t>
            </a:r>
            <a:r>
              <a:rPr lang="en-IN" sz="1600" dirty="0"/>
              <a:t> Leverages IBM Granite foundation models for advanced natural language understanding, reasoning, and high-quality business idea generation. </a:t>
            </a:r>
          </a:p>
          <a:p>
            <a:r>
              <a:rPr lang="en-IN" sz="1600" b="1" dirty="0"/>
              <a:t>RAG-Enhanced Responses:</a:t>
            </a:r>
            <a:r>
              <a:rPr lang="en-IN" sz="1600" dirty="0"/>
              <a:t> Combines Retrieval-Augmented Generation (RAG) with a vector database to retrieve relevant business information before generating responses, improving accuracy and reducing AI hallucinations. </a:t>
            </a:r>
          </a:p>
          <a:p>
            <a:r>
              <a:rPr lang="en-IN" sz="1600" b="1" dirty="0"/>
              <a:t>Context-Aware Recommendations:</a:t>
            </a:r>
            <a:r>
              <a:rPr lang="en-IN" sz="1600" dirty="0"/>
              <a:t> Suggests not only business ideas but also investment estimates, target customers, revenue models, implementation steps, and growth opportunities. </a:t>
            </a:r>
          </a:p>
          <a:p>
            <a:r>
              <a:rPr lang="en-IN" sz="1600" b="1" dirty="0"/>
              <a:t>Visual AI Workflow with </a:t>
            </a:r>
            <a:r>
              <a:rPr lang="en-IN" sz="1600" b="1" dirty="0" err="1"/>
              <a:t>Langflow</a:t>
            </a:r>
            <a:r>
              <a:rPr lang="en-IN" sz="1600" b="1" dirty="0"/>
              <a:t>:</a:t>
            </a:r>
            <a:r>
              <a:rPr lang="en-IN" sz="1600" dirty="0"/>
              <a:t> Uses </a:t>
            </a:r>
            <a:r>
              <a:rPr lang="en-IN" sz="1600" dirty="0" err="1"/>
              <a:t>Langflow</a:t>
            </a:r>
            <a:r>
              <a:rPr lang="en-IN" sz="1600" dirty="0"/>
              <a:t> to create a modular and easily maintainable AI workflow by integrating multiple AI components without complex coding. </a:t>
            </a:r>
          </a:p>
          <a:p>
            <a:endParaRPr lang="en-IN" dirty="0"/>
          </a:p>
        </p:txBody>
      </p:sp>
    </p:spTree>
    <p:extLst>
      <p:ext uri="{BB962C8B-B14F-4D97-AF65-F5344CB8AC3E}">
        <p14:creationId xmlns:p14="http://schemas.microsoft.com/office/powerpoint/2010/main" val="9179641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dirty="0">
                <a:sym typeface="Times New Roman"/>
              </a:rPr>
              <a:t>Future Scope </a:t>
            </a:r>
            <a:endParaRPr sz="2400" b="1" dirty="0">
              <a:sym typeface="Times New Roman"/>
            </a:endParaRPr>
          </a:p>
        </p:txBody>
      </p:sp>
      <p:sp>
        <p:nvSpPr>
          <p:cNvPr id="279" name="Google Shape;279;p18">
            <a:extLst>
              <a:ext uri="{FF2B5EF4-FFF2-40B4-BE49-F238E27FC236}">
                <a16:creationId xmlns:a16="http://schemas.microsoft.com/office/drawing/2014/main" id="{EAFA16CB-0A72-5AC5-69A0-ABF4A752B43F}"/>
              </a:ext>
            </a:extLst>
          </p:cNvPr>
          <p:cNvSpPr/>
          <p:nvPr/>
        </p:nvSpPr>
        <p:spPr>
          <a:xfrm>
            <a:off x="1218724" y="1221715"/>
            <a:ext cx="9214580" cy="4277001"/>
          </a:xfrm>
          <a:prstGeom prst="rect">
            <a:avLst/>
          </a:prstGeom>
          <a:noFill/>
          <a:ln>
            <a:noFill/>
          </a:ln>
        </p:spPr>
        <p:txBody>
          <a:bodyPr spcFirstLastPara="1" wrap="square" lIns="0" tIns="0" rIns="0" bIns="0" anchor="t" anchorCtr="0">
            <a:noAutofit/>
          </a:bodyPr>
          <a:lstStyle/>
          <a:p>
            <a:r>
              <a:rPr lang="en-IN" sz="1800" b="1" dirty="0"/>
              <a:t>1. AI-Based Business Plan Generation</a:t>
            </a:r>
          </a:p>
          <a:p>
            <a:r>
              <a:rPr lang="en-IN" sz="1600" dirty="0"/>
              <a:t>The system can automatically generate complete business plans, including executive summaries, market analysis, financial projections, marketing strategies, and operational plans based on the selected business idea.</a:t>
            </a:r>
          </a:p>
          <a:p>
            <a:endParaRPr lang="en-IN" sz="1600" dirty="0"/>
          </a:p>
          <a:p>
            <a:r>
              <a:rPr lang="en-IN" sz="1800" b="1" dirty="0"/>
              <a:t>2. Real-Time Market Trend Analysis</a:t>
            </a:r>
          </a:p>
          <a:p>
            <a:r>
              <a:rPr lang="en-IN" sz="1600" dirty="0"/>
              <a:t>By integrating live market data, news, and industry reports, the application can recommend business ideas based on current market demand, emerging technologies, and consumer trends.</a:t>
            </a:r>
          </a:p>
          <a:p>
            <a:endParaRPr lang="en-IN" sz="1600" dirty="0"/>
          </a:p>
          <a:p>
            <a:r>
              <a:rPr lang="en-IN" sz="1800" b="1" dirty="0"/>
              <a:t>3. Financial Feasibility Analysis</a:t>
            </a:r>
          </a:p>
          <a:p>
            <a:r>
              <a:rPr lang="en-IN" sz="1600" dirty="0"/>
              <a:t>Future versions can estimate startup costs, expected revenue, profit margins, break-even points, and return on investment (ROI), helping users evaluate the financial viability of their business ideas.</a:t>
            </a:r>
          </a:p>
          <a:p>
            <a:endParaRPr lang="en-IN" sz="1600" dirty="0"/>
          </a:p>
          <a:p>
            <a:r>
              <a:rPr lang="en-IN" sz="1800" b="1" dirty="0"/>
              <a:t>4. Competitor Analysis</a:t>
            </a:r>
          </a:p>
          <a:p>
            <a:r>
              <a:rPr lang="en-IN" sz="1600" dirty="0"/>
              <a:t>The system can </a:t>
            </a:r>
            <a:r>
              <a:rPr lang="en-IN" sz="1600" dirty="0" err="1"/>
              <a:t>analyze</a:t>
            </a:r>
            <a:r>
              <a:rPr lang="en-IN" sz="1600" dirty="0"/>
              <a:t> existing competitors in the selected business domain and provide insights into their strengths, weaknesses, pricing strategies, and market positioning.</a:t>
            </a:r>
          </a:p>
        </p:txBody>
      </p:sp>
      <p:sp>
        <p:nvSpPr>
          <p:cNvPr id="280" name="Google Shape;280;p18">
            <a:extLst>
              <a:ext uri="{FF2B5EF4-FFF2-40B4-BE49-F238E27FC236}">
                <a16:creationId xmlns:a16="http://schemas.microsoft.com/office/drawing/2014/main"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1367067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F1C7BCA-5DD7-F4D3-A937-D1C56976DA01}"/>
              </a:ext>
            </a:extLst>
          </p:cNvPr>
          <p:cNvSpPr txBox="1"/>
          <p:nvPr/>
        </p:nvSpPr>
        <p:spPr>
          <a:xfrm>
            <a:off x="327949" y="207380"/>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t>Certificates Earned:</a:t>
            </a:r>
          </a:p>
          <a:p>
            <a:pPr algn="ctr"/>
            <a:endParaRPr lang="en-US"/>
          </a:p>
        </p:txBody>
      </p:sp>
      <p:sp>
        <p:nvSpPr>
          <p:cNvPr id="3" name="TextBox 2">
            <a:extLst>
              <a:ext uri="{FF2B5EF4-FFF2-40B4-BE49-F238E27FC236}">
                <a16:creationId xmlns:a16="http://schemas.microsoft.com/office/drawing/2014/main" id="{4837D5EE-379B-FDC5-0854-8AC81D31FADF}"/>
              </a:ext>
            </a:extLst>
          </p:cNvPr>
          <p:cNvSpPr txBox="1"/>
          <p:nvPr/>
        </p:nvSpPr>
        <p:spPr>
          <a:xfrm>
            <a:off x="552048" y="690061"/>
            <a:ext cx="6389965"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a:t>Please  add your credly certificate </a:t>
            </a:r>
          </a:p>
        </p:txBody>
      </p:sp>
      <p:pic>
        <p:nvPicPr>
          <p:cNvPr id="4" name="Picture 3" descr="A screen shot of a computer&#10;&#10;AI-generated content may be incorrect.">
            <a:extLst>
              <a:ext uri="{FF2B5EF4-FFF2-40B4-BE49-F238E27FC236}">
                <a16:creationId xmlns:a16="http://schemas.microsoft.com/office/drawing/2014/main" id="{A037CFD0-B7FF-D9BE-3433-88E5844EF332}"/>
              </a:ext>
            </a:extLst>
          </p:cNvPr>
          <p:cNvPicPr>
            <a:picLocks noChangeAspect="1"/>
          </p:cNvPicPr>
          <p:nvPr/>
        </p:nvPicPr>
        <p:blipFill>
          <a:blip r:embed="rId2"/>
          <a:stretch>
            <a:fillRect/>
          </a:stretch>
        </p:blipFill>
        <p:spPr>
          <a:xfrm>
            <a:off x="2553442" y="1343396"/>
            <a:ext cx="7075219" cy="5309259"/>
          </a:xfrm>
          <a:prstGeom prst="rect">
            <a:avLst/>
          </a:prstGeom>
        </p:spPr>
      </p:pic>
      <p:pic>
        <p:nvPicPr>
          <p:cNvPr id="5" name="Picture 4">
            <a:extLst>
              <a:ext uri="{FF2B5EF4-FFF2-40B4-BE49-F238E27FC236}">
                <a16:creationId xmlns:a16="http://schemas.microsoft.com/office/drawing/2014/main" id="{7C16F721-B63F-1C09-378B-6CA85367FC75}"/>
              </a:ext>
            </a:extLst>
          </p:cNvPr>
          <p:cNvPicPr>
            <a:picLocks noChangeAspect="1"/>
          </p:cNvPicPr>
          <p:nvPr/>
        </p:nvPicPr>
        <p:blipFill>
          <a:blip r:embed="rId3"/>
          <a:stretch>
            <a:fillRect/>
          </a:stretch>
        </p:blipFill>
        <p:spPr>
          <a:xfrm>
            <a:off x="2563339" y="1343395"/>
            <a:ext cx="7075220" cy="5307225"/>
          </a:xfrm>
          <a:prstGeom prst="rect">
            <a:avLst/>
          </a:prstGeom>
        </p:spPr>
      </p:pic>
    </p:spTree>
    <p:extLst>
      <p:ext uri="{BB962C8B-B14F-4D97-AF65-F5344CB8AC3E}">
        <p14:creationId xmlns:p14="http://schemas.microsoft.com/office/powerpoint/2010/main" val="12290476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certificate with red text&#10;&#10;AI-generated content may be incorrect.">
            <a:extLst>
              <a:ext uri="{FF2B5EF4-FFF2-40B4-BE49-F238E27FC236}">
                <a16:creationId xmlns:a16="http://schemas.microsoft.com/office/drawing/2014/main" id="{099C3698-991D-7A38-C456-893C84C23FC9}"/>
              </a:ext>
            </a:extLst>
          </p:cNvPr>
          <p:cNvPicPr>
            <a:picLocks noChangeAspect="1"/>
          </p:cNvPicPr>
          <p:nvPr/>
        </p:nvPicPr>
        <p:blipFill>
          <a:blip r:embed="rId2"/>
          <a:srcRect r="177" b="-275"/>
          <a:stretch>
            <a:fillRect/>
          </a:stretch>
        </p:blipFill>
        <p:spPr>
          <a:xfrm>
            <a:off x="2512736" y="1712637"/>
            <a:ext cx="7177553" cy="4658577"/>
          </a:xfrm>
          <a:prstGeom prst="rect">
            <a:avLst/>
          </a:prstGeom>
        </p:spPr>
      </p:pic>
      <p:sp>
        <p:nvSpPr>
          <p:cNvPr id="5" name="TextBox 4">
            <a:extLst>
              <a:ext uri="{FF2B5EF4-FFF2-40B4-BE49-F238E27FC236}">
                <a16:creationId xmlns:a16="http://schemas.microsoft.com/office/drawing/2014/main" id="{CA8544A9-CF92-3FAF-D3EE-31DF90F7A64D}"/>
              </a:ext>
            </a:extLst>
          </p:cNvPr>
          <p:cNvSpPr txBox="1"/>
          <p:nvPr/>
        </p:nvSpPr>
        <p:spPr>
          <a:xfrm>
            <a:off x="176696" y="226391"/>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i="0" u="none" strike="noStrike" baseline="0">
                <a:solidFill>
                  <a:srgbClr val="000000"/>
                </a:solidFill>
                <a:latin typeface="Arial"/>
              </a:rPr>
              <a:t>Certificates Earned:</a:t>
            </a:r>
            <a:r>
              <a:rPr sz="2400" b="0" i="0">
                <a:solidFill>
                  <a:srgbClr val="000000"/>
                </a:solidFill>
                <a:latin typeface="Arial"/>
                <a:ea typeface="Arial"/>
                <a:cs typeface="Arial"/>
              </a:rPr>
              <a:t>​</a:t>
            </a:r>
            <a:endParaRPr lang="en-US"/>
          </a:p>
          <a:p>
            <a:pPr algn="ctr"/>
            <a:endParaRPr lang="en-US"/>
          </a:p>
        </p:txBody>
      </p:sp>
      <p:sp>
        <p:nvSpPr>
          <p:cNvPr id="6" name="TextBox 5">
            <a:extLst>
              <a:ext uri="{FF2B5EF4-FFF2-40B4-BE49-F238E27FC236}">
                <a16:creationId xmlns:a16="http://schemas.microsoft.com/office/drawing/2014/main" id="{C0D36B1A-26C2-CD55-1032-4CB5E4EDF305}"/>
              </a:ext>
            </a:extLst>
          </p:cNvPr>
          <p:cNvSpPr txBox="1"/>
          <p:nvPr/>
        </p:nvSpPr>
        <p:spPr>
          <a:xfrm>
            <a:off x="496843" y="800470"/>
            <a:ext cx="5437681"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a:t>Add your IBM BOB Certificate</a:t>
            </a:r>
          </a:p>
        </p:txBody>
      </p:sp>
      <p:pic>
        <p:nvPicPr>
          <p:cNvPr id="3" name="Picture 2">
            <a:extLst>
              <a:ext uri="{FF2B5EF4-FFF2-40B4-BE49-F238E27FC236}">
                <a16:creationId xmlns:a16="http://schemas.microsoft.com/office/drawing/2014/main" id="{37524D29-735C-251F-C649-E4D0694007B0}"/>
              </a:ext>
            </a:extLst>
          </p:cNvPr>
          <p:cNvPicPr>
            <a:picLocks noChangeAspect="1"/>
          </p:cNvPicPr>
          <p:nvPr/>
        </p:nvPicPr>
        <p:blipFill>
          <a:blip r:embed="rId3"/>
          <a:stretch>
            <a:fillRect/>
          </a:stretch>
        </p:blipFill>
        <p:spPr>
          <a:xfrm>
            <a:off x="2512736" y="1712637"/>
            <a:ext cx="7177553" cy="4821782"/>
          </a:xfrm>
          <a:prstGeom prst="rect">
            <a:avLst/>
          </a:prstGeom>
        </p:spPr>
      </p:pic>
    </p:spTree>
    <p:extLst>
      <p:ext uri="{BB962C8B-B14F-4D97-AF65-F5344CB8AC3E}">
        <p14:creationId xmlns:p14="http://schemas.microsoft.com/office/powerpoint/2010/main" val="250661074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TotalTime>
  <Words>1713</Words>
  <Application>Microsoft Office PowerPoint</Application>
  <PresentationFormat>Widescreen</PresentationFormat>
  <Paragraphs>121</Paragraphs>
  <Slides>14</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Calibri</vt:lpstr>
      <vt:lpstr>Times New Roman</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Om Yadav</cp:lastModifiedBy>
  <cp:revision>16</cp:revision>
  <dcterms:created xsi:type="dcterms:W3CDTF">2025-07-08T05:06:56Z</dcterms:created>
  <dcterms:modified xsi:type="dcterms:W3CDTF">2026-07-15T14:57:02Z</dcterms:modified>
</cp:coreProperties>
</file>